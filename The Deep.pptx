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5" r:id="rId5"/>
    <p:sldId id="310" r:id="rId6"/>
    <p:sldId id="320" r:id="rId7"/>
    <p:sldId id="318" r:id="rId8"/>
    <p:sldId id="322" r:id="rId9"/>
    <p:sldId id="315" r:id="rId10"/>
    <p:sldId id="314" r:id="rId11"/>
    <p:sldId id="316" r:id="rId12"/>
    <p:sldId id="323" r:id="rId13"/>
    <p:sldId id="324" r:id="rId14"/>
    <p:sldId id="317" r:id="rId15"/>
    <p:sldId id="321" r:id="rId16"/>
  </p:sldIdLst>
  <p:sldSz cx="12188825" cy="6858000"/>
  <p:notesSz cx="6858000" cy="9144000"/>
  <p:custDataLst>
    <p:tags r:id="rId19"/>
  </p:custDataLst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1624" autoAdjust="0"/>
  </p:normalViewPr>
  <p:slideViewPr>
    <p:cSldViewPr showGuides="1">
      <p:cViewPr varScale="1">
        <p:scale>
          <a:sx n="103" d="100"/>
          <a:sy n="103" d="100"/>
        </p:scale>
        <p:origin x="138" y="34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BB05FF44-DF9A-4A13-BC46-2F847A20FBA3}" type="datetime1">
              <a:rPr lang="ko-KR" altLang="en-US" smtClean="0">
                <a:latin typeface="malgun gothic" panose="020B0503020000020004" pitchFamily="50" charset="-127"/>
                <a:ea typeface="malgun gothic" panose="020B0503020000020004" pitchFamily="50" charset="-127"/>
              </a:rPr>
              <a:t>2025-12-18</a:t>
            </a:fld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pPr algn="r" rtl="0"/>
              <a:t>‹#›</a:t>
            </a:fld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B67652D9-5E98-496C-9A79-7FBE3C3A89CE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F93199CD-3E1B-4AE6-990F-76F925F5EA9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50" charset="-127"/>
        <a:ea typeface="malgun gothic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383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5622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2181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697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8009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915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934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6949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7454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2345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467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en-US" altLang="ko-KR" smtClean="0"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436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rtl="0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 rtl="0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 algn="l" rtl="0">
              <a:defRPr/>
            </a:lvl6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6B7C8E55-64E3-43E3-9B1F-D481C9ABEBA4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065213" y="5410200"/>
            <a:ext cx="8687333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A63C1306-F24F-4654-B050-3D3785E3A869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504781" y="1905001"/>
            <a:ext cx="4419599" cy="41148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 rtl="0">
              <a:defRPr sz="2000"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 rtl="0"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6229183" y="1905001"/>
            <a:ext cx="4419600" cy="41148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 rtl="0">
              <a:defRPr sz="2000"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 rtl="0"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50C68357-0488-4B3E-8D6D-734C90E62C4D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52241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152241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 rtl="0">
              <a:defRPr sz="2000"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 rtl="0"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624986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624986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 rtl="0">
              <a:defRPr sz="2000"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 rtl="0"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100650EB-3FA3-4A54-8CA3-83674E37935A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B31A7561-9F8C-438E-9D21-7638ED08212B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AD33435E-7C56-449C-911C-471A0263CF30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 baseline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951414" y="6858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 rtl="0">
              <a:defRPr sz="2000"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 rtl="0"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 rtl="0"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F1CC9ECC-9233-4658-8663-B73DDF1FF0B0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 baseline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B049273-EAB0-4DCF-941E-39581054E418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rtl="0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B9023433-3EEF-4622-9C85-6CD0BC23D80D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1522412" y="381001"/>
            <a:ext cx="7391399" cy="5638800"/>
          </a:xfrm>
        </p:spPr>
        <p:txBody>
          <a:bodyPr vert="eaVert" rtlCol="0"/>
          <a:lstStyle>
            <a:lvl1pPr rtl="0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9C12699E-3412-44B7-9171-C461BDF7A91B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dirty="0"/>
              <a:t>마스터 텍스트 스타일을 편집합니다</a:t>
            </a:r>
            <a:endParaRPr lang="ko-KR" altLang="en-US" noProof="0" dirty="0"/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AC6E7A6B-0AD1-4F59-AD67-4661D6F24343}" type="datetime1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013F82-EE5E-44EE-A61D-E31C6657F26F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j-cs"/>
        </a:defRPr>
      </a:lvl1pPr>
    </p:titleStyle>
    <p:bodyStyle>
      <a:lvl1pPr marL="223838" indent="-223838" algn="l" defTabSz="914400" rtl="0" eaLnBrk="1" latinLnBrk="1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1pPr>
      <a:lvl2pPr marL="463550" indent="-231775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2pPr>
      <a:lvl3pPr marL="682625" indent="-219075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3pPr>
      <a:lvl4pPr marL="857250" indent="-174625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4pPr>
      <a:lvl5pPr marL="1030288" indent="-17303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5pPr>
      <a:lvl6pPr marL="1207008" indent="-173736" algn="l" defTabSz="914400" rtl="0" eaLnBrk="1" latinLnBrk="1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1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1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1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197868" y="1700808"/>
            <a:ext cx="8229600" cy="2895600"/>
          </a:xfrm>
        </p:spPr>
        <p:txBody>
          <a:bodyPr rtlCol="0"/>
          <a:lstStyle/>
          <a:p>
            <a:pPr rtl="0"/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The Deep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부제 3"/>
          <p:cNvSpPr>
            <a:spLocks noGrp="1"/>
          </p:cNvSpPr>
          <p:nvPr>
            <p:ph type="subTitle" idx="1"/>
          </p:nvPr>
        </p:nvSpPr>
        <p:spPr>
          <a:xfrm>
            <a:off x="1269876" y="4724400"/>
            <a:ext cx="8229600" cy="1219200"/>
          </a:xfrm>
        </p:spPr>
        <p:txBody>
          <a:bodyPr rtlCol="0"/>
          <a:lstStyle/>
          <a:p>
            <a:pPr rtl="0"/>
            <a:r>
              <a:rPr lang="en-US" altLang="ko-KR" dirty="0"/>
              <a:t>Game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  <a:r>
              <a:rPr lang="ko-KR" altLang="en-US" dirty="0"/>
              <a:t> </a:t>
            </a:r>
            <a:r>
              <a:rPr lang="en-US" altLang="ko-KR" dirty="0"/>
              <a:t>proposal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599728"/>
          </a:xfrm>
        </p:spPr>
        <p:txBody>
          <a:bodyPr rtlCol="0"/>
          <a:lstStyle/>
          <a:p>
            <a:pPr algn="ctr" rtl="0"/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Contents</a:t>
            </a:r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886500" y="1772816"/>
            <a:ext cx="4274360" cy="3888432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게임 개요</a:t>
            </a:r>
            <a:endParaRPr lang="en-US" altLang="ko-KR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게임 콘셉트 및 핵심 특징</a:t>
            </a:r>
            <a:endParaRPr lang="en-US" altLang="ko-KR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Reference</a:t>
            </a:r>
          </a:p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게임 스토리</a:t>
            </a:r>
            <a:endParaRPr lang="en-US" altLang="ko-KR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게임 시스템</a:t>
            </a:r>
            <a:endParaRPr lang="en-US" altLang="ko-KR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그래픽 및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UI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디자인</a:t>
            </a:r>
            <a:endParaRPr lang="en-US" altLang="ko-KR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개발 과정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85900" y="2672916"/>
            <a:ext cx="4320480" cy="504056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게임 장르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해양 공포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VR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생존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CAF54F-11B7-4DB4-A72A-7F3D7BB79897}"/>
              </a:ext>
            </a:extLst>
          </p:cNvPr>
          <p:cNvSpPr txBox="1">
            <a:spLocks/>
          </p:cNvSpPr>
          <p:nvPr/>
        </p:nvSpPr>
        <p:spPr>
          <a:xfrm>
            <a:off x="1487568" y="2168860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게임 이름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: The deep</a:t>
            </a:r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1B3808F3-BDBF-4E0E-9AB9-21FD1239FCEF}"/>
              </a:ext>
            </a:extLst>
          </p:cNvPr>
          <p:cNvSpPr txBox="1">
            <a:spLocks/>
          </p:cNvSpPr>
          <p:nvPr/>
        </p:nvSpPr>
        <p:spPr>
          <a:xfrm>
            <a:off x="1485900" y="3176972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플랫폼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: Meta</a:t>
            </a:r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AC2ACC96-E320-4087-A009-D42A2A023AA0}"/>
              </a:ext>
            </a:extLst>
          </p:cNvPr>
          <p:cNvSpPr txBox="1">
            <a:spLocks/>
          </p:cNvSpPr>
          <p:nvPr/>
        </p:nvSpPr>
        <p:spPr>
          <a:xfrm>
            <a:off x="1485900" y="3681028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개발 엔진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: Unity</a:t>
            </a:r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16251240-B166-4EB8-B999-6CBF0F66931A}"/>
              </a:ext>
            </a:extLst>
          </p:cNvPr>
          <p:cNvSpPr txBox="1">
            <a:spLocks/>
          </p:cNvSpPr>
          <p:nvPr/>
        </p:nvSpPr>
        <p:spPr>
          <a:xfrm>
            <a:off x="1485900" y="4185084"/>
            <a:ext cx="5537900" cy="50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목표 시장 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: 10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~30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</a:t>
            </a:r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,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 인터넷 방송인 등</a:t>
            </a:r>
          </a:p>
        </p:txBody>
      </p:sp>
    </p:spTree>
    <p:extLst>
      <p:ext uri="{BB962C8B-B14F-4D97-AF65-F5344CB8AC3E}">
        <p14:creationId xmlns:p14="http://schemas.microsoft.com/office/powerpoint/2010/main" val="311928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ACA2A8C9-A234-475C-B7B6-338333A97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268201"/>
              </p:ext>
            </p:extLst>
          </p:nvPr>
        </p:nvGraphicFramePr>
        <p:xfrm>
          <a:off x="0" y="-1"/>
          <a:ext cx="12197726" cy="685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504440" imgH="13002840" progId="">
                  <p:embed/>
                </p:oleObj>
              </mc:Choice>
              <mc:Fallback>
                <p:oleObj r:id="rId3" imgW="19504440" imgH="130028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alphaModFix amt="50000"/>
                      </a:blip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12197726" cy="685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5820" y="2039660"/>
            <a:ext cx="10297144" cy="3719006"/>
          </a:xfrm>
        </p:spPr>
        <p:txBody>
          <a:bodyPr rtlCol="0"/>
          <a:lstStyle/>
          <a:p>
            <a:pPr rtl="0">
              <a:lnSpc>
                <a:spcPct val="150000"/>
              </a:lnSpc>
            </a:pPr>
            <a:r>
              <a:rPr lang="ko-KR" altLang="en-US" dirty="0">
                <a:latin typeface="궁서체" panose="02030609000101010101" pitchFamily="17" charset="-127"/>
                <a:ea typeface="궁서체" panose="02030609000101010101" pitchFamily="17" charset="-127"/>
              </a:rPr>
              <a:t>끝없이 펼쳐진 깊고 어두운 심해에서 오는 공허함</a:t>
            </a:r>
            <a:endParaRPr lang="en-US" altLang="ko-KR" dirty="0">
              <a:latin typeface="궁서체" panose="02030609000101010101" pitchFamily="17" charset="-127"/>
              <a:ea typeface="궁서체" panose="02030609000101010101" pitchFamily="17" charset="-127"/>
            </a:endParaRPr>
          </a:p>
          <a:p>
            <a:pPr rtl="0">
              <a:lnSpc>
                <a:spcPct val="150000"/>
              </a:lnSpc>
            </a:pPr>
            <a:r>
              <a:rPr lang="ko-KR" altLang="en-US" dirty="0">
                <a:latin typeface="궁서체" panose="02030609000101010101" pitchFamily="17" charset="-127"/>
                <a:ea typeface="궁서체" panose="02030609000101010101" pitchFamily="17" charset="-127"/>
              </a:rPr>
              <a:t>기괴한 사운드와 언제 나타날지 모르는 </a:t>
            </a:r>
            <a:r>
              <a:rPr lang="ko-KR" altLang="en-US" dirty="0" err="1">
                <a:latin typeface="궁서체" panose="02030609000101010101" pitchFamily="17" charset="-127"/>
                <a:ea typeface="궁서체" panose="02030609000101010101" pitchFamily="17" charset="-127"/>
              </a:rPr>
              <a:t>괴생명체의</a:t>
            </a:r>
            <a:r>
              <a:rPr lang="ko-KR" altLang="en-US" dirty="0">
                <a:latin typeface="궁서체" panose="02030609000101010101" pitchFamily="17" charset="-127"/>
                <a:ea typeface="궁서체" panose="02030609000101010101" pitchFamily="17" charset="-127"/>
              </a:rPr>
              <a:t> 위협에서 느끼는 극한의 심해공포</a:t>
            </a:r>
            <a:r>
              <a:rPr lang="en-US" altLang="ko-KR" dirty="0">
                <a:latin typeface="궁서체" panose="02030609000101010101" pitchFamily="17" charset="-127"/>
                <a:ea typeface="궁서체" panose="02030609000101010101" pitchFamily="17" charset="-127"/>
              </a:rPr>
              <a:t> </a:t>
            </a:r>
          </a:p>
          <a:p>
            <a:pPr rtl="0">
              <a:lnSpc>
                <a:spcPct val="150000"/>
              </a:lnSpc>
            </a:pPr>
            <a:r>
              <a:rPr lang="ko-KR" altLang="en-US" dirty="0">
                <a:latin typeface="궁서체" panose="02030609000101010101" pitchFamily="17" charset="-127"/>
                <a:ea typeface="궁서체" panose="02030609000101010101" pitchFamily="17" charset="-127"/>
              </a:rPr>
              <a:t>긴장감 속에서 목표를 달성하지 못하면 탈출하지 못한다는 압박감</a:t>
            </a:r>
            <a:endParaRPr lang="en-US" altLang="ko-KR" dirty="0">
              <a:latin typeface="궁서체" panose="02030609000101010101" pitchFamily="17" charset="-127"/>
              <a:ea typeface="궁서체" panose="02030609000101010101" pitchFamily="17" charset="-127"/>
            </a:endParaRPr>
          </a:p>
          <a:p>
            <a:pPr rtl="0">
              <a:lnSpc>
                <a:spcPct val="150000"/>
              </a:lnSpc>
            </a:pPr>
            <a:r>
              <a:rPr lang="ko-KR" altLang="en-US" dirty="0">
                <a:latin typeface="궁서체" panose="02030609000101010101" pitchFamily="17" charset="-127"/>
                <a:ea typeface="궁서체" panose="02030609000101010101" pitchFamily="17" charset="-127"/>
              </a:rPr>
              <a:t>단순히 공포를 주는 것을 넘어</a:t>
            </a:r>
            <a:r>
              <a:rPr lang="en-US" altLang="ko-KR" dirty="0">
                <a:latin typeface="궁서체" panose="02030609000101010101" pitchFamily="17" charset="-127"/>
                <a:ea typeface="궁서체" panose="02030609000101010101" pitchFamily="17" charset="-127"/>
              </a:rPr>
              <a:t>, </a:t>
            </a:r>
            <a:r>
              <a:rPr lang="ko-KR" altLang="en-US" dirty="0">
                <a:latin typeface="궁서체" panose="02030609000101010101" pitchFamily="17" charset="-127"/>
                <a:ea typeface="궁서체" panose="02030609000101010101" pitchFamily="17" charset="-127"/>
              </a:rPr>
              <a:t>플레이어의 희망을 배신하는 서사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09836" y="548680"/>
            <a:ext cx="5472608" cy="74549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3600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게임 콘셉트 및 핵심 특징</a:t>
            </a:r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599728"/>
          </a:xfrm>
        </p:spPr>
        <p:txBody>
          <a:bodyPr rtlCol="0">
            <a:normAutofit/>
          </a:bodyPr>
          <a:lstStyle/>
          <a:p>
            <a:pPr algn="ctr" rtl="0"/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Reference (1)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93812" y="3879168"/>
            <a:ext cx="3971874" cy="2376264"/>
          </a:xfrm>
        </p:spPr>
        <p:txBody>
          <a:bodyPr rtlCol="0"/>
          <a:lstStyle/>
          <a:p>
            <a:pPr rtl="0"/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게임명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Shadow Corridor</a:t>
            </a: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개발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스페이스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오니기리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게임즈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유통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아크 시스템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웍스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아시아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장르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1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인칭 생존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호러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엔진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언리얼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엔진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4</a:t>
            </a:r>
            <a:endParaRPr lang="ko-KR" altLang="en-US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7A45C62C-52EE-4FF5-9E2F-4E3B10A963DA}"/>
              </a:ext>
            </a:extLst>
          </p:cNvPr>
          <p:cNvSpPr txBox="1">
            <a:spLocks/>
          </p:cNvSpPr>
          <p:nvPr/>
        </p:nvSpPr>
        <p:spPr>
          <a:xfrm>
            <a:off x="5230316" y="1556792"/>
            <a:ext cx="4416552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내용 개체 틀 5">
            <a:extLst>
              <a:ext uri="{FF2B5EF4-FFF2-40B4-BE49-F238E27FC236}">
                <a16:creationId xmlns:a16="http://schemas.microsoft.com/office/drawing/2014/main" id="{C188269E-FC73-4D1B-96A2-ABB37F59A7EF}"/>
              </a:ext>
            </a:extLst>
          </p:cNvPr>
          <p:cNvSpPr txBox="1">
            <a:spLocks/>
          </p:cNvSpPr>
          <p:nvPr/>
        </p:nvSpPr>
        <p:spPr>
          <a:xfrm>
            <a:off x="6814492" y="1790700"/>
            <a:ext cx="4416552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5" name="내용 개체 틀 5">
            <a:extLst>
              <a:ext uri="{FF2B5EF4-FFF2-40B4-BE49-F238E27FC236}">
                <a16:creationId xmlns:a16="http://schemas.microsoft.com/office/drawing/2014/main" id="{2029B9DA-C7A7-4B7C-B936-C9FE886C5C47}"/>
              </a:ext>
            </a:extLst>
          </p:cNvPr>
          <p:cNvSpPr txBox="1">
            <a:spLocks/>
          </p:cNvSpPr>
          <p:nvPr/>
        </p:nvSpPr>
        <p:spPr>
          <a:xfrm>
            <a:off x="6249862" y="1579115"/>
            <a:ext cx="4416552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FF50631-4ACF-4035-AA4A-E8DA3635A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43" y="1313031"/>
            <a:ext cx="5088317" cy="2756010"/>
          </a:xfrm>
          <a:prstGeom prst="rect">
            <a:avLst/>
          </a:prstGeom>
        </p:spPr>
      </p:pic>
      <p:sp>
        <p:nvSpPr>
          <p:cNvPr id="18" name="내용 개체 틀 5">
            <a:extLst>
              <a:ext uri="{FF2B5EF4-FFF2-40B4-BE49-F238E27FC236}">
                <a16:creationId xmlns:a16="http://schemas.microsoft.com/office/drawing/2014/main" id="{B045329C-F87C-478C-8A02-DCDE3860401A}"/>
              </a:ext>
            </a:extLst>
          </p:cNvPr>
          <p:cNvSpPr txBox="1">
            <a:spLocks/>
          </p:cNvSpPr>
          <p:nvPr/>
        </p:nvSpPr>
        <p:spPr>
          <a:xfrm>
            <a:off x="5014291" y="4165411"/>
            <a:ext cx="6438569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5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개의 곡옥을 찾아 탈출하는 탈출 방식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손전등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교란용 폭죽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탈출구를 가리키는 나침반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잠시 적을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기절시키는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카메라 등 다양한 아이템 아이디어 참고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그 외 적에게 발각 시 발각 사인과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공격 당할 시 등장하는 점프스퀘어 씬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적의 시야를 피해 숨는 캐비닛 등 다양한 부분에서 참고하여 제작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lnSpc>
                <a:spcPct val="100000"/>
              </a:lnSpc>
            </a:pPr>
            <a:endParaRPr lang="ko-KR" altLang="en-US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9" name="AutoShape 2" descr="ShadowCorridor-c...">
            <a:extLst>
              <a:ext uri="{FF2B5EF4-FFF2-40B4-BE49-F238E27FC236}">
                <a16:creationId xmlns:a16="http://schemas.microsoft.com/office/drawing/2014/main" id="{8046FB10-53E5-4BA3-B27A-70DE60C03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3350" y="64262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4BA114A-842E-483A-823D-406B56474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20" y="1340769"/>
            <a:ext cx="4084467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599728"/>
          </a:xfrm>
        </p:spPr>
        <p:txBody>
          <a:bodyPr rtlCol="0">
            <a:normAutofit/>
          </a:bodyPr>
          <a:lstStyle/>
          <a:p>
            <a:pPr algn="ctr" rtl="0"/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Reference (2)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93812" y="3879168"/>
            <a:ext cx="3971874" cy="2376264"/>
          </a:xfrm>
        </p:spPr>
        <p:txBody>
          <a:bodyPr rtlCol="0"/>
          <a:lstStyle/>
          <a:p>
            <a:pPr rtl="0"/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게임명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en-US" altLang="ko-KR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SubNautica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개발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언노운월즈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엔터테인먼트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유통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언노운월즈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엔터테인먼트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장르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1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인칭 생존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rtl="0"/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엔진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Unity</a:t>
            </a:r>
            <a:endParaRPr lang="ko-KR" altLang="en-US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7A45C62C-52EE-4FF5-9E2F-4E3B10A963DA}"/>
              </a:ext>
            </a:extLst>
          </p:cNvPr>
          <p:cNvSpPr txBox="1">
            <a:spLocks/>
          </p:cNvSpPr>
          <p:nvPr/>
        </p:nvSpPr>
        <p:spPr>
          <a:xfrm>
            <a:off x="5230316" y="1556792"/>
            <a:ext cx="4416552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내용 개체 틀 5">
            <a:extLst>
              <a:ext uri="{FF2B5EF4-FFF2-40B4-BE49-F238E27FC236}">
                <a16:creationId xmlns:a16="http://schemas.microsoft.com/office/drawing/2014/main" id="{C188269E-FC73-4D1B-96A2-ABB37F59A7EF}"/>
              </a:ext>
            </a:extLst>
          </p:cNvPr>
          <p:cNvSpPr txBox="1">
            <a:spLocks/>
          </p:cNvSpPr>
          <p:nvPr/>
        </p:nvSpPr>
        <p:spPr>
          <a:xfrm>
            <a:off x="6814492" y="1790700"/>
            <a:ext cx="4416552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5" name="내용 개체 틀 5">
            <a:extLst>
              <a:ext uri="{FF2B5EF4-FFF2-40B4-BE49-F238E27FC236}">
                <a16:creationId xmlns:a16="http://schemas.microsoft.com/office/drawing/2014/main" id="{2029B9DA-C7A7-4B7C-B936-C9FE886C5C47}"/>
              </a:ext>
            </a:extLst>
          </p:cNvPr>
          <p:cNvSpPr txBox="1">
            <a:spLocks/>
          </p:cNvSpPr>
          <p:nvPr/>
        </p:nvSpPr>
        <p:spPr>
          <a:xfrm>
            <a:off x="6249862" y="1579115"/>
            <a:ext cx="4416552" cy="327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8" name="내용 개체 틀 5">
            <a:extLst>
              <a:ext uri="{FF2B5EF4-FFF2-40B4-BE49-F238E27FC236}">
                <a16:creationId xmlns:a16="http://schemas.microsoft.com/office/drawing/2014/main" id="{B045329C-F87C-478C-8A02-DCDE3860401A}"/>
              </a:ext>
            </a:extLst>
          </p:cNvPr>
          <p:cNvSpPr txBox="1">
            <a:spLocks/>
          </p:cNvSpPr>
          <p:nvPr/>
        </p:nvSpPr>
        <p:spPr>
          <a:xfrm>
            <a:off x="5014292" y="4165411"/>
            <a:ext cx="5976664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깊은 심해 배경과 다양한 심해 생물로 심해공포를 직접 느낄 수 있는 생존게임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양분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수분섭취 등의 생존 관련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스테이터스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존재로    플레이어에게 공포 외에도 생존의 압박감 부여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그 밖의 스캐너 및 정보를 표시하는 디지털형 도감을 참고하여 홀로그램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UI watch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및 스캐너 제작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>
              <a:lnSpc>
                <a:spcPct val="100000"/>
              </a:lnSpc>
            </a:pPr>
            <a:endParaRPr lang="ko-KR" altLang="en-US" sz="1800" dirty="0"/>
          </a:p>
        </p:txBody>
      </p:sp>
      <p:sp>
        <p:nvSpPr>
          <p:cNvPr id="19" name="AutoShape 2" descr="ShadowCorridor-c...">
            <a:extLst>
              <a:ext uri="{FF2B5EF4-FFF2-40B4-BE49-F238E27FC236}">
                <a16:creationId xmlns:a16="http://schemas.microsoft.com/office/drawing/2014/main" id="{8046FB10-53E5-4BA3-B27A-70DE60C03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3350" y="64262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386B80-4D04-4E93-96B6-8A3C62057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963" y="1197505"/>
            <a:ext cx="4579533" cy="258629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D844F67-E873-47EB-8433-8A518B30A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47" y="1329419"/>
            <a:ext cx="3879939" cy="206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8FA28043-CA45-47AB-9741-7539B17544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630935"/>
              </p:ext>
            </p:extLst>
          </p:nvPr>
        </p:nvGraphicFramePr>
        <p:xfrm>
          <a:off x="0" y="0"/>
          <a:ext cx="1218297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002840" imgH="13002840" progId="">
                  <p:embed/>
                </p:oleObj>
              </mc:Choice>
              <mc:Fallback>
                <p:oleObj r:id="rId3" imgW="13002840" imgH="130028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82978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5265" y="404664"/>
            <a:ext cx="4032448" cy="784309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-KR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Game Story</a:t>
            </a:r>
            <a:endParaRPr lang="ko-KR" altLang="en-US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99101" y="1593637"/>
            <a:ext cx="6984775" cy="3771279"/>
          </a:xfrm>
        </p:spPr>
        <p:txBody>
          <a:bodyPr rtlCol="0"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Agency FB" panose="020B0503020202020204" pitchFamily="34" charset="0"/>
                <a:ea typeface="휴먼옛체" panose="02030504000101010101" pitchFamily="18" charset="-127"/>
              </a:rPr>
              <a:t>야심한 밤</a:t>
            </a:r>
            <a:r>
              <a:rPr lang="en-US" altLang="ko-KR" dirty="0">
                <a:latin typeface="Agency FB" panose="020B0503020202020204" pitchFamily="34" charset="0"/>
                <a:ea typeface="휴먼옛체" panose="02030504000101010101" pitchFamily="18" charset="-127"/>
              </a:rPr>
              <a:t>, </a:t>
            </a:r>
            <a:r>
              <a:rPr lang="ko-KR" altLang="en-US" dirty="0">
                <a:latin typeface="Agency FB" panose="020B0503020202020204" pitchFamily="34" charset="0"/>
                <a:ea typeface="휴먼옛체" panose="02030504000101010101" pitchFamily="18" charset="-127"/>
              </a:rPr>
              <a:t>홀로 항구에 나온 주인공은 해저 보물을 탐색하기 위해 장비를 갖추고 보트에 탑승한다</a:t>
            </a:r>
            <a:r>
              <a:rPr lang="en-US" altLang="ko-KR" dirty="0">
                <a:latin typeface="Agency FB" panose="020B0503020202020204" pitchFamily="34" charset="0"/>
                <a:ea typeface="휴먼옛체" panose="02030504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effectLst/>
                <a:latin typeface="Agency FB" panose="020B0503020202020204" pitchFamily="34" charset="0"/>
                <a:ea typeface="휴먼옛체" panose="02030504000101010101" pitchFamily="18" charset="-127"/>
              </a:rPr>
              <a:t>어업으로 생계를 꾸려왔던 그에게 늘 익숙한 일터이자 삶의 터전이던 바</a:t>
            </a:r>
            <a:r>
              <a:rPr lang="ko-KR" altLang="en-US" dirty="0">
                <a:latin typeface="Agency FB" panose="020B0503020202020204" pitchFamily="34" charset="0"/>
                <a:ea typeface="휴먼옛체" panose="02030504000101010101" pitchFamily="18" charset="-127"/>
              </a:rPr>
              <a:t>다에 들어가 작업을 시작하려던 그때</a:t>
            </a:r>
            <a:r>
              <a:rPr lang="en-US" altLang="ko-KR" dirty="0">
                <a:latin typeface="Agency FB" panose="020B0503020202020204" pitchFamily="34" charset="0"/>
                <a:ea typeface="휴먼옛체" panose="02030504000101010101" pitchFamily="18" charset="-127"/>
              </a:rPr>
              <a:t>, </a:t>
            </a:r>
            <a:r>
              <a:rPr lang="ko-KR" altLang="en-US" dirty="0">
                <a:latin typeface="Agency FB" panose="020B0503020202020204" pitchFamily="34" charset="0"/>
                <a:ea typeface="휴먼옛체" panose="02030504000101010101" pitchFamily="18" charset="-127"/>
              </a:rPr>
              <a:t>정체불명의 소리와 함께 낯설고 불길한 기운이 주인공을 덮쳐왔고</a:t>
            </a:r>
            <a:r>
              <a:rPr lang="en-US" altLang="ko-KR" dirty="0">
                <a:latin typeface="Agency FB" panose="020B0503020202020204" pitchFamily="34" charset="0"/>
                <a:ea typeface="휴먼옛체" panose="02030504000101010101" pitchFamily="18" charset="-127"/>
              </a:rPr>
              <a:t>, </a:t>
            </a:r>
            <a:r>
              <a:rPr lang="ko-KR" altLang="en-US" dirty="0">
                <a:latin typeface="Agency FB" panose="020B0503020202020204" pitchFamily="34" charset="0"/>
                <a:ea typeface="휴먼옛체" panose="02030504000101010101" pitchFamily="18" charset="-127"/>
              </a:rPr>
              <a:t>주인공은 살기 위한 탐색을 시작하게 된다</a:t>
            </a:r>
            <a:r>
              <a:rPr lang="en-US" altLang="ko-KR" dirty="0">
                <a:latin typeface="Agency FB" panose="020B0503020202020204" pitchFamily="34" charset="0"/>
                <a:ea typeface="휴먼옛체" panose="02030504000101010101" pitchFamily="18" charset="-127"/>
              </a:rPr>
              <a:t>.</a:t>
            </a:r>
            <a:endParaRPr lang="ko-KR" altLang="en-US" dirty="0">
              <a:latin typeface="Agency FB" panose="020B0503020202020204" pitchFamily="34" charset="0"/>
              <a:ea typeface="휴먼옛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92487" y="404664"/>
            <a:ext cx="3203850" cy="627856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US" altLang="ko-KR" dirty="0">
                <a:latin typeface="궁서" panose="02030600000101010101" pitchFamily="18" charset="-127"/>
                <a:ea typeface="궁서" panose="02030600000101010101" pitchFamily="18" charset="-127"/>
              </a:rPr>
              <a:t>Game System</a:t>
            </a:r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4" name="내용 개체 틀 5">
            <a:extLst>
              <a:ext uri="{FF2B5EF4-FFF2-40B4-BE49-F238E27FC236}">
                <a16:creationId xmlns:a16="http://schemas.microsoft.com/office/drawing/2014/main" id="{5BCF85E8-049E-4EF5-8504-5D6AF1C6A9E6}"/>
              </a:ext>
            </a:extLst>
          </p:cNvPr>
          <p:cNvSpPr txBox="1">
            <a:spLocks/>
          </p:cNvSpPr>
          <p:nvPr/>
        </p:nvSpPr>
        <p:spPr>
          <a:xfrm>
            <a:off x="546532" y="1484784"/>
            <a:ext cx="3286982" cy="2376264"/>
          </a:xfrm>
          <a:prstGeom prst="rect">
            <a:avLst/>
          </a:prstGeom>
        </p:spPr>
        <p:txBody>
          <a:bodyPr rtlCol="0"/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목표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3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개의 보물을 찾아 탈출하기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맵을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배회하는 몬스터 존재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플레이어 발견 시 추적하고 플레이어는 캐비닛 등의 회피수단을 활용해 추적을 피할 수 있으며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공격당할 시 즉시 게임 오버</a:t>
            </a:r>
            <a:endParaRPr lang="en-US" altLang="ko-KR" sz="1800" dirty="0"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플레이어는 각종 아이템을 사용 가능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endParaRPr lang="en-US" altLang="ko-KR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33F675-6E20-47CF-AB36-5ADE5C3A8A45}"/>
              </a:ext>
            </a:extLst>
          </p:cNvPr>
          <p:cNvSpPr txBox="1"/>
          <p:nvPr/>
        </p:nvSpPr>
        <p:spPr>
          <a:xfrm>
            <a:off x="6568145" y="1484784"/>
            <a:ext cx="4292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배터리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흔하게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파밍할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수 있는 자원으로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각종 아이템 사용에 필요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F05175E-EAEC-4196-816D-08F5B4E9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863" y="2156064"/>
            <a:ext cx="4423972" cy="36533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B20EE4F-E8B4-441B-9C5A-DC7F99684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147" y="1842229"/>
            <a:ext cx="2005163" cy="365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92487" y="404664"/>
            <a:ext cx="3203850" cy="627856"/>
          </a:xfrm>
        </p:spPr>
        <p:txBody>
          <a:bodyPr rtlCol="0">
            <a:normAutofit/>
          </a:bodyPr>
          <a:lstStyle/>
          <a:p>
            <a:pPr algn="ctr" rtl="0"/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Game System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A6CBE-49DF-4067-98C8-776DB17675B9}"/>
              </a:ext>
            </a:extLst>
          </p:cNvPr>
          <p:cNvSpPr txBox="1"/>
          <p:nvPr/>
        </p:nvSpPr>
        <p:spPr>
          <a:xfrm>
            <a:off x="1149491" y="1567300"/>
            <a:ext cx="4536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손전등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기본 제공되는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헤드랜턴보다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밝은 시야를 제공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켜는 동안 배터리를 소모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88052-9331-453B-962E-0F8CB0EFCC64}"/>
              </a:ext>
            </a:extLst>
          </p:cNvPr>
          <p:cNvSpPr txBox="1"/>
          <p:nvPr/>
        </p:nvSpPr>
        <p:spPr>
          <a:xfrm>
            <a:off x="7083053" y="1394892"/>
            <a:ext cx="3956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스캐너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일정 반경 내 지형지물과 몬스터를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색적하는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장치</a:t>
            </a:r>
            <a:r>
              <a:rPr lang="en-US" altLang="ko-KR" sz="1800" dirty="0"/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F497D4-90A3-4DC2-9922-417B154B4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051" y="2041223"/>
            <a:ext cx="2762636" cy="33437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0418C7D-FB3A-44ED-A9A1-6BB906743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996" y="2213631"/>
            <a:ext cx="3175471" cy="240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8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92487" y="404664"/>
            <a:ext cx="3203850" cy="627856"/>
          </a:xfrm>
        </p:spPr>
        <p:txBody>
          <a:bodyPr rtlCol="0">
            <a:normAutofit/>
          </a:bodyPr>
          <a:lstStyle/>
          <a:p>
            <a:pPr algn="ctr" rtl="0"/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Game System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F216D-427D-4351-9BDE-F4109DA782C5}"/>
              </a:ext>
            </a:extLst>
          </p:cNvPr>
          <p:cNvSpPr txBox="1"/>
          <p:nvPr/>
        </p:nvSpPr>
        <p:spPr>
          <a:xfrm>
            <a:off x="1053852" y="1210663"/>
            <a:ext cx="5616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Shockwave Gun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지근거리 내 몬스터를 일정시간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기절시키는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무기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재사용에는 </a:t>
            </a:r>
            <a:r>
              <a:rPr lang="ko-KR" altLang="en-US" sz="1800" dirty="0" err="1">
                <a:latin typeface="궁서" panose="02030600000101010101" pitchFamily="18" charset="-127"/>
                <a:ea typeface="궁서" panose="02030600000101010101" pitchFamily="18" charset="-127"/>
              </a:rPr>
              <a:t>쿨타임이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 존재하며 배터리를 소모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7F209-4449-4B71-848C-6697F590A060}"/>
              </a:ext>
            </a:extLst>
          </p:cNvPr>
          <p:cNvSpPr txBox="1"/>
          <p:nvPr/>
        </p:nvSpPr>
        <p:spPr>
          <a:xfrm>
            <a:off x="7102524" y="1556792"/>
            <a:ext cx="3203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Glowstick :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약하게 빛나는 발광체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 </a:t>
            </a:r>
            <a:r>
              <a:rPr lang="ko-KR" altLang="en-US" sz="1800" dirty="0">
                <a:latin typeface="궁서" panose="02030600000101010101" pitchFamily="18" charset="-127"/>
                <a:ea typeface="궁서" panose="02030600000101010101" pitchFamily="18" charset="-127"/>
              </a:rPr>
              <a:t>이동경로의 표시나 시야 보조 역할을 한다</a:t>
            </a:r>
            <a:r>
              <a:rPr lang="en-US" altLang="ko-KR" sz="1800" dirty="0"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F4B4C89-38EF-4E22-8AA2-E2DA7F3F4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860" y="1210663"/>
            <a:ext cx="1473446" cy="52061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FA29F1E-C59F-4D7D-A0BA-070BC1FC6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036" y="1870379"/>
            <a:ext cx="320084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10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CF9A0-4A21-4052-9A31-6985A57C1611}"/>
              </a:ext>
            </a:extLst>
          </p:cNvPr>
          <p:cNvSpPr txBox="1">
            <a:spLocks/>
          </p:cNvSpPr>
          <p:nvPr/>
        </p:nvSpPr>
        <p:spPr>
          <a:xfrm>
            <a:off x="4242823" y="404664"/>
            <a:ext cx="3703177" cy="648071"/>
          </a:xfrm>
          <a:prstGeom prst="rect">
            <a:avLst/>
          </a:prstGeom>
        </p:spPr>
        <p:txBody>
          <a:bodyPr rtlCol="0">
            <a:normAutofit fontScale="77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100" baseline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/>
              <a:t>그래픽 및 </a:t>
            </a:r>
            <a:r>
              <a:rPr lang="en-US" altLang="ko-KR" dirty="0"/>
              <a:t>UI</a:t>
            </a:r>
            <a:r>
              <a:rPr lang="ko-KR" altLang="en-US" dirty="0"/>
              <a:t>디자인</a:t>
            </a:r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5213" y="397768"/>
            <a:ext cx="2276215" cy="576064"/>
          </a:xfrm>
        </p:spPr>
        <p:txBody>
          <a:bodyPr rtlCol="0"/>
          <a:lstStyle/>
          <a:p>
            <a:pPr rtl="0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개발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30116" y="1098932"/>
            <a:ext cx="8352928" cy="1695636"/>
          </a:xfrm>
        </p:spPr>
        <p:txBody>
          <a:bodyPr rtlCol="0"/>
          <a:lstStyle/>
          <a:p>
            <a:pPr rtl="0"/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25859" y="1344426"/>
            <a:ext cx="924743" cy="432048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강진환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471532CD-86B5-42C7-A8CF-65BF95AFE3FF}"/>
              </a:ext>
            </a:extLst>
          </p:cNvPr>
          <p:cNvSpPr txBox="1">
            <a:spLocks/>
          </p:cNvSpPr>
          <p:nvPr/>
        </p:nvSpPr>
        <p:spPr>
          <a:xfrm>
            <a:off x="1065211" y="2996952"/>
            <a:ext cx="924743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이상현</a:t>
            </a: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3EBE7C89-0180-4EAF-9B4E-3C65ACE317CB}"/>
              </a:ext>
            </a:extLst>
          </p:cNvPr>
          <p:cNvSpPr txBox="1">
            <a:spLocks/>
          </p:cNvSpPr>
          <p:nvPr/>
        </p:nvSpPr>
        <p:spPr>
          <a:xfrm>
            <a:off x="1125860" y="4865502"/>
            <a:ext cx="924743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한명언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EC2A162-3A82-4D6C-9F95-8AF51073B1A4}"/>
              </a:ext>
            </a:extLst>
          </p:cNvPr>
          <p:cNvSpPr txBox="1">
            <a:spLocks/>
          </p:cNvSpPr>
          <p:nvPr/>
        </p:nvSpPr>
        <p:spPr>
          <a:xfrm>
            <a:off x="3430116" y="2919667"/>
            <a:ext cx="8352928" cy="1695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561BCE6-F1FC-41BF-8186-C976EFBBAD20}"/>
              </a:ext>
            </a:extLst>
          </p:cNvPr>
          <p:cNvSpPr txBox="1">
            <a:spLocks/>
          </p:cNvSpPr>
          <p:nvPr/>
        </p:nvSpPr>
        <p:spPr>
          <a:xfrm>
            <a:off x="3430116" y="4865502"/>
            <a:ext cx="8352928" cy="1695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1pPr>
            <a:lvl2pPr marL="463550" indent="-231775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2pPr>
            <a:lvl3pPr marL="682625" indent="-21907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3pPr>
            <a:lvl4pPr marL="857250" indent="-174625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4pPr>
            <a:lvl5pPr marL="1030288" indent="-17303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defRPr>
            </a:lvl5pPr>
            <a:lvl6pPr marL="1207008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1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4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디지털 블루 터널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888_TF02895261_TF02895261.potx" id="{CB703ADA-4020-4533-B4A6-C21C09E7A272}" vid="{1ECFAB70-D429-474F-8B69-CF255C8DA589}"/>
    </a:ext>
  </a:extLst>
</a:theme>
</file>

<file path=ppt/theme/theme2.xml><?xml version="1.0" encoding="utf-8"?>
<a:theme xmlns:a="http://schemas.openxmlformats.org/drawingml/2006/main" name="Office 테마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E41224-0370-4595-877C-23316CD80004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비즈니스 디지털 파란색 터널 프레젠테이션(와이드스크린)</Template>
  <TotalTime>496</TotalTime>
  <Words>424</Words>
  <Application>Microsoft Office PowerPoint</Application>
  <PresentationFormat>사용자 지정</PresentationFormat>
  <Paragraphs>72</Paragraphs>
  <Slides>12</Slides>
  <Notes>12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궁서</vt:lpstr>
      <vt:lpstr>궁서체</vt:lpstr>
      <vt:lpstr>malgun gothic</vt:lpstr>
      <vt:lpstr>휴먼엑스포</vt:lpstr>
      <vt:lpstr>Agency FB</vt:lpstr>
      <vt:lpstr>Arial</vt:lpstr>
      <vt:lpstr>Corbel</vt:lpstr>
      <vt:lpstr>디지털 블루 터널 16x9</vt:lpstr>
      <vt:lpstr>The Deep</vt:lpstr>
      <vt:lpstr>Contents</vt:lpstr>
      <vt:lpstr>PowerPoint 프레젠테이션</vt:lpstr>
      <vt:lpstr>PowerPoint 프레젠테이션</vt:lpstr>
      <vt:lpstr>Reference (1)</vt:lpstr>
      <vt:lpstr>Reference (2)</vt:lpstr>
      <vt:lpstr>Game Story</vt:lpstr>
      <vt:lpstr>Game System</vt:lpstr>
      <vt:lpstr>Game System</vt:lpstr>
      <vt:lpstr>Game System</vt:lpstr>
      <vt:lpstr>PowerPoint 프레젠테이션</vt:lpstr>
      <vt:lpstr>개발 과정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Deep</dc:title>
  <dc:creator>명언 한</dc:creator>
  <cp:lastModifiedBy>명언 한</cp:lastModifiedBy>
  <cp:revision>15</cp:revision>
  <dcterms:created xsi:type="dcterms:W3CDTF">2025-12-16T06:53:41Z</dcterms:created>
  <dcterms:modified xsi:type="dcterms:W3CDTF">2025-12-18T08:46:11Z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